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7592"/>
          </a:xfrm>
          <a:prstGeom prst="rect">
            <a:avLst/>
          </a:prstGeom>
          <a:solidFill>
            <a:srgbClr val="16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自動化 Excel 報表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多維度銷售分析 — 進階教學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不會寫程式也能自動化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工具對比：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CLI  vs  GitHub Copilot CLI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2024 年度銷售資料實戰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學習目標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完成這堂課後你能做到的事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54864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54864" cy="4572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07008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070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143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用一段 Prompt 完成「四檔交叉分析 → 多維度報表 → 圖表視覺化」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8229600" cy="54864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828800"/>
            <a:ext cx="54864" cy="4572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1892808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8928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學會進階 Prompt 六大設計原則（分層描述、指定彙總、指定公式…）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8229600" cy="54864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514600"/>
            <a:ext cx="54864" cy="4572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2578608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5786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2514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 KPI 達成率儀表板：條件格式自動標紅黃綠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8229600" cy="54864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200400"/>
            <a:ext cx="54864" cy="4572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264408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2644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產品利潤 × 客戶滿意度交叉分析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54864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886200"/>
            <a:ext cx="54864" cy="4572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3950208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9502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97280" y="3886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 Gemini CLI 與 Copilot CLI 的執行差異與產出品質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年底銷售報告的痛點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業務分析師的日常困擾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82296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54864" cy="7315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12471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四份 Excel 散落各處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銷售明細、預算目標、產品目錄、客戶回饋分屬不同系統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82296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57400"/>
            <a:ext cx="54864" cy="7315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0848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資料品質問題多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423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負數金額、日期格式亂、產品名稱錯字、姓名不一致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8229600" cy="82296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7315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04495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手動整理耗時數天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383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樞紐分析、圖表、條件格式全部手工操作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82296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977640"/>
            <a:ext cx="54864" cy="7315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005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報表格式不統一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4343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每次做出來的報表長得不一樣，無法標準化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今天的兩位 AI 助手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CLI vs GitHub Copilot CLI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3931920" cy="3474720"/>
          </a:xfrm>
          <a:prstGeom prst="rect">
            <a:avLst>
              <a:gd name="adj" fmla="val 1316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54864" cy="338328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73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CLI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出品的命令列 AI 工具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安裝：npm install -g @google/gemini-cli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執行方式：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-p "&lt;prompt&gt;" -y -o text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-y 自動同意所有操作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-o text 純文字輸出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3931920" cy="3474720"/>
          </a:xfrm>
          <a:prstGeom prst="rect">
            <a:avLst>
              <a:gd name="adj" fmla="val 1316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143000"/>
            <a:ext cx="54864" cy="3383280"/>
          </a:xfrm>
          <a:prstGeom prst="rect">
            <a:avLst/>
          </a:prstGeom>
          <a:solidFill>
            <a:srgbClr val="6F42C1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F42C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Copilot CLI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120640" y="164592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/ Microsoft 出品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已預裝於系統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執行方式：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-p "&lt;prompt&gt;" --allow-all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--allow-all 自動同意操作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底層模型：Claude Sonnet 4.6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案例情境：年度銷售報告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消費電子公司業務分析師的任務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你是業務分析師，老闆要你整理全年度銷售報告，手上有四份 Excel：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檔案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筆數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monthly_sales.xlsx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全年度銷售明細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~600 筆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budget_targets.xlsx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每位業務年度預算目標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 筆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product_catalog.xlsx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產品目錄（含成本）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 筆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customer_feedback.xlsx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客戶滿意度回饋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200 筆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目標：5 大任務一次完成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383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資料清理 + 清理日誌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3703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多維度銷售分析（5 個工作表 + 圖表）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4023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KPI 達成率儀表板（條件格式）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4343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產品利潤 × 滿意度交叉分析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46634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資料品質報告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資料中的品質問題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真實世界的髒資料挑戰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105156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54864" cy="960120"/>
          </a:xfrm>
          <a:prstGeom prst="rect">
            <a:avLst/>
          </a:prstGeom>
          <a:solidFill>
            <a:srgbClr val="BF8F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銷售金額負數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筆退貨未標記（如 -12,900）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4114800" cy="105156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77440"/>
            <a:ext cx="54864" cy="960120"/>
          </a:xfrm>
          <a:prstGeom prst="rect">
            <a:avLst/>
          </a:prstGeom>
          <a:solidFill>
            <a:srgbClr val="BF8F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423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日期格式不一致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788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混用 2024/01/03 與 2024-01-03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4114800" cy="105156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11880"/>
            <a:ext cx="54864" cy="960120"/>
          </a:xfrm>
          <a:prstGeom prst="rect">
            <a:avLst/>
          </a:prstGeom>
          <a:solidFill>
            <a:srgbClr val="BF8F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57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產品名稱錯字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「智彗手環」→「智慧手環」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97280"/>
            <a:ext cx="4114800" cy="105156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143000"/>
            <a:ext cx="54864" cy="960120"/>
          </a:xfrm>
          <a:prstGeom prst="rect">
            <a:avLst/>
          </a:prstGeom>
          <a:solidFill>
            <a:srgbClr val="BF8F00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業務員姓名異常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「張冠宇（代）」、「蕭 宥翔」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331720"/>
            <a:ext cx="4114800" cy="105156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377440"/>
            <a:ext cx="54864" cy="960120"/>
          </a:xfrm>
          <a:prstGeom prst="rect">
            <a:avLst/>
          </a:prstGeom>
          <a:solidFill>
            <a:srgbClr val="BF8F00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423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回饋評分超範圍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2788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出現 0、6、-1（應為 1-5）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566160"/>
            <a:ext cx="4114800" cy="105156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611880"/>
            <a:ext cx="54864" cy="960120"/>
          </a:xfrm>
          <a:prstGeom prst="rect">
            <a:avLst/>
          </a:prstGeom>
          <a:solidFill>
            <a:srgbClr val="BF8F00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657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重複訂單 / 數量為 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4023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筆重複 + 3 筆零數量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五大任務處理流程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從原始資料到精美報表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325880" cy="1645920"/>
          </a:xfrm>
          <a:prstGeom prst="rect">
            <a:avLst>
              <a:gd name="adj" fmla="val 5517"/>
            </a:avLst>
          </a:prstGeom>
          <a:solidFill>
            <a:srgbClr val="1F4E7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46304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四份原始 Excel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28600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raw/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0200" y="18288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737360" y="1371600"/>
            <a:ext cx="1325880" cy="1645920"/>
          </a:xfrm>
          <a:prstGeom prst="rect">
            <a:avLst>
              <a:gd name="adj" fmla="val 5517"/>
            </a:avLst>
          </a:prstGeom>
          <a:solidFill>
            <a:srgbClr val="2F549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83080" y="146304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任務一：資料清理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83080" y="228600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份清理檔 + 清理日誌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063240" y="18288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00400" y="1371600"/>
            <a:ext cx="1325880" cy="1645920"/>
          </a:xfrm>
          <a:prstGeom prst="rect">
            <a:avLst>
              <a:gd name="adj" fmla="val 5517"/>
            </a:avLst>
          </a:prstGeom>
          <a:solidFill>
            <a:srgbClr val="54823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46120" y="146304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任務二：銷售分析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46120" y="228600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個 Sheet + 3 種圖表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26280" y="18288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63440" y="1371600"/>
            <a:ext cx="1325880" cy="1645920"/>
          </a:xfrm>
          <a:prstGeom prst="rect">
            <a:avLst>
              <a:gd name="adj" fmla="val 5517"/>
            </a:avLst>
          </a:prstGeom>
          <a:solidFill>
            <a:srgbClr val="BF8F0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146304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任務三：KPI 儀表板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228600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條件格式紅黃綠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89320" y="18288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126480" y="1371600"/>
            <a:ext cx="1325880" cy="1645920"/>
          </a:xfrm>
          <a:prstGeom prst="rect">
            <a:avLst>
              <a:gd name="adj" fmla="val 5517"/>
            </a:avLst>
          </a:prstGeom>
          <a:solidFill>
            <a:srgbClr val="2E75B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72200" y="146304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任務四：利潤分析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228600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交叉合併 + 資料條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452360" y="18288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589520" y="1371600"/>
            <a:ext cx="1325880" cy="1645920"/>
          </a:xfrm>
          <a:prstGeom prst="rect">
            <a:avLst>
              <a:gd name="adj" fmla="val 5517"/>
            </a:avLst>
          </a:prstGeom>
          <a:solidFill>
            <a:srgbClr val="C6282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635240" y="146304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任務五：品質報告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35240" y="228600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問題清單 + 統計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最終產出：8 份 Excel 報表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3749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cleaned_monthly_sales.xlsx, cleaned_budget_targets.xlsx, cleaned_customer_feedback.xlsx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4023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cleaning_log.xlsx, sales_analysis_report.xlsx, kpi_dashboard.xlsx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42976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product_profit_report.xlsx, data_quality_report.xlsx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進階 Prompt 六大設計原則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寫出精準 Prompt 的關鍵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20624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4864" cy="10058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14300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分層描述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3990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先概覽再細節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先列 5 個維度大標題，再各自展開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420624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77440"/>
            <a:ext cx="54864" cy="10058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242316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明確彙總方式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26791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SUM / AVG / COUNT 不混淆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2971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指定每個統計要用哪個函數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420624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57600"/>
            <a:ext cx="54864" cy="10058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370332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3657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指定計算公式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39593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 AI 自己推導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4251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MoM% = (本月-上月)/上月×100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1051560"/>
            <a:ext cx="420624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1097280"/>
            <a:ext cx="54864" cy="10058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9" name="Shape 27"/>
          <p:cNvSpPr/>
          <p:nvPr/>
        </p:nvSpPr>
        <p:spPr>
          <a:xfrm>
            <a:off x="4846320" y="114300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5780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條件分級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57800" y="13990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AI 自動標記狀態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≥120% 超標 / ≥100% 達成 / &lt;80% 未達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2331720"/>
            <a:ext cx="420624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377440"/>
            <a:ext cx="54864" cy="10058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6" name="Shape 34"/>
          <p:cNvSpPr/>
          <p:nvPr/>
        </p:nvSpPr>
        <p:spPr>
          <a:xfrm>
            <a:off x="4846320" y="242316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5780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指定圖表類型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257800" y="26791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不讓 AI 自選圖表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57800" y="2971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折線圖看趨勢、圓餅圖看佔比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3611880"/>
            <a:ext cx="420624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657600"/>
            <a:ext cx="54864" cy="10058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3" name="Shape 41"/>
          <p:cNvSpPr/>
          <p:nvPr/>
        </p:nvSpPr>
        <p:spPr>
          <a:xfrm>
            <a:off x="4846320" y="370332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257800" y="3657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指定格式細節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257800" y="39593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色碼、邊框、欄寬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57800" y="4251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標題 #2F5496 深藍底白字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原則一：分層描述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先概覽、再細節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1828800"/>
          </a:xfrm>
          <a:prstGeom prst="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4114800" cy="32004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不好的寫法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按部門統計銷售額，然後按月份統計，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然後按產品統計，然後做排名，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然後算成長率...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14800" cy="1828800"/>
          </a:xfrm>
          <a:prstGeom prst="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4114800" cy="3200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好的寫法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50876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任務二：多維度銷售分析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請從以下五個維度分析：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2-1. 月度銷售趨勢（含 MoM%）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2-2. 部門銷售樞紐分析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2-3. 業務員排名 Top 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2-4. 產品類別銷售分布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2-5. 客戶區域銷售分布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先列出維度大標題，AI 就能掌握全貌，每個維度再各自展開細節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原則三：指定計算公式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 AI 自己推導出不同算法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4114800" cy="32004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不好的寫法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計算成長率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14800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4114800" cy="3200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好的寫法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5087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MoM% = (本月-上月)/上月 × 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達成率% = 實際/目標 × 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毛利率% = (銷售-成本)/銷售 × 100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8595360" cy="2103120"/>
          </a:xfrm>
          <a:prstGeom prst="rect">
            <a:avLst>
              <a:gd name="adj" fmla="val 2174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88920"/>
            <a:ext cx="54864" cy="20116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本案例用到的三個公式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月成長率 MoM%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32461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(本月銷售總額 - 上月銷售總額) / 上月銷售總額 × 100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達成率%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37947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實際銷售額 / 年度目標金額 × 100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343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毛利率%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17520" y="434340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(銷售總額 - 銷售數量×成本) / 銷售總額 × 100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原則四：用條件分級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AI 自動標記狀態，不靠主觀判斷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118872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4114800" cy="32004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標記哪些業務表現好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「表現好」太主觀，每個人標準不同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14800" cy="118872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4114800" cy="3200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用數值區間 + 對應標籤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1463040"/>
            <a:ext cx="3749040" cy="182880"/>
          </a:xfrm>
          <a:prstGeom prst="rect">
            <a:avLst/>
          </a:prstGeom>
          <a:solidFill>
            <a:srgbClr val="C6EFCE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46304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≥ 120%  →  ★ 超標達成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37760" y="1664208"/>
            <a:ext cx="3749040" cy="182880"/>
          </a:xfrm>
          <a:prstGeom prst="rect">
            <a:avLst/>
          </a:prstGeom>
          <a:solidFill>
            <a:srgbClr val="C6EFCE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66420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≥ 100%  →  ✔ 達成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37760" y="1865376"/>
            <a:ext cx="3749040" cy="182880"/>
          </a:xfrm>
          <a:prstGeom prst="rect">
            <a:avLst/>
          </a:prstGeom>
          <a:solidFill>
            <a:srgbClr val="FFEB9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86537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≥ 80%  →  △ 接近達成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37760" y="2066544"/>
            <a:ext cx="3749040" cy="182880"/>
          </a:xfrm>
          <a:prstGeom prst="rect">
            <a:avLst/>
          </a:prstGeom>
          <a:solidFill>
            <a:srgbClr val="FFC7CE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206654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&lt; 80%  →  ✘ 未達成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560320"/>
            <a:ext cx="8595360" cy="2103120"/>
          </a:xfrm>
          <a:prstGeom prst="rect">
            <a:avLst>
              <a:gd name="adj" fmla="val 2174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606040"/>
            <a:ext cx="54864" cy="20116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651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條件格式色碼對照（直接寫在 Prompt 中）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3108960"/>
            <a:ext cx="457200" cy="320040"/>
          </a:xfrm>
          <a:prstGeom prst="rect">
            <a:avLst/>
          </a:prstGeom>
          <a:solidFill>
            <a:srgbClr val="C6EFCE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3108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達成率 ≥ 100%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#C6EFCE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淺綠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3566160"/>
            <a:ext cx="457200" cy="320040"/>
          </a:xfrm>
          <a:prstGeom prst="rect">
            <a:avLst/>
          </a:prstGeom>
          <a:solidFill>
            <a:srgbClr val="FFEB9C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3566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80% ≤ 達成率 &lt; 100%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3566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#FFEB9C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3566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淺黃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1520" y="4023360"/>
            <a:ext cx="457200" cy="320040"/>
          </a:xfrm>
          <a:prstGeom prst="rect">
            <a:avLst/>
          </a:prstGeom>
          <a:solidFill>
            <a:srgbClr val="FFC7CE"/>
          </a:solidFill>
          <a:ln/>
        </p:spPr>
      </p:sp>
      <p:sp>
        <p:nvSpPr>
          <p:cNvPr id="33" name="Text 31"/>
          <p:cNvSpPr/>
          <p:nvPr/>
        </p:nvSpPr>
        <p:spPr>
          <a:xfrm>
            <a:off x="1371600" y="4023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達成率 &lt; 80%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54880" y="4023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#FFC7CE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淺紅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 Prompt（上）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任務一~二：清理 + 銷售分析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931920"/>
          </a:xfrm>
          <a:prstGeom prst="rect">
            <a:avLst>
              <a:gd name="adj" fmla="val 1860"/>
            </a:avLst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請在 03-advanced/ 目錄下建立 advanced_analysis.py，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讀取 03-advanced/raw/ 的四份原始 Excel，處理結果輸出到 03-advanced/output/。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任務一：資料清理與標準化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清理規則：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日期格式統一為 YYYY-MM-DD（/ → -）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業務員姓名去空白、移除括號標注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產品名稱去空白、修正錯字（「智彗」→「智慧」）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每次修正記錄到 cleaning_log.xlsx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任務二：多維度銷售分析 → sales_analysis_report.xlsx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前置：排除銷售金額 ≤ 0 或數量 ≤ 0 的紀錄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 1「月度銷售趨勢」MoM% = (本月-上月)/上月×100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 2「部門銷售樞紐」行=部門, 列=月份, 值=SUM(銷售金額)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 3「業務員排名」Top 3 加淺綠底 #C6EFCE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 4「產品類別分布」圓餅圖(A10)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 5「客戶區域分布」按總額降序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 Prompt（下）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任務三~五：KPI + 利潤 + 品質 + 格式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931920"/>
          </a:xfrm>
          <a:prstGeom prst="rect">
            <a:avLst>
              <a:gd name="adj" fmla="val 1860"/>
            </a:avLst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任務三：預算達成率 → kpi_dashboard.xlsx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達成率% = 實際 / 目標 × 100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狀態：≥120% ★超標, ≥100% ✔達成, ≥80% △接近, &lt;80% ✘未達成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條件格式：≥100 綠底 #C6EFCE、80-99 黃底 #FFEB9C、&lt;80 紅底 #FFC7CE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任務四：產品利潤交叉分析 → product_profit_report.xlsx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銷售彙總 merge 產品目錄(成本) merge 回饋(平均滿意度)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毛利率% = (銷售總額 - 數量×成本) / 銷售總額 × 100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任務五：資料品質報告 → data_quality_report.xlsx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 1 問題清單 / Sheet 2 問題統計 / Sheet 3 清理日誌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所有報表格式：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標題列：粗體白字、深藍底(#2F5496)、置中自動換行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細邊框、垂直置中、欄寬自動調整（中文字算2字寬，10-30範圍）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完成後列出 output 所有檔案及大小，顯示關鍵指標摘要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CLI 執行過程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 Terminal 記錄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931920"/>
          </a:xfrm>
          <a:prstGeom prst="rect">
            <a:avLst>
              <a:gd name="adj" fmla="val 1860"/>
            </a:avLst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gemini -p "$(cat prompt.txt)" -y -o text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 mode is enabled. All tool calls will be automatically approved.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Loaded cached credentials.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步驟 1：研究原始資料結構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確認 raw/ 下各 Excel 檔案的欄位名稱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Error: AttachConsole failed (Windows 終端編碼問題，無害)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Attempt 1 failed: quota exhausted, retrying...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改用 uv run python 執行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發現 KeyError: 年度銷售目標 → 改用關鍵字匹配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任務五 Q1預算 KeyError → 再次修正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分析已成功完成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總銷售額: 13,969,794 | 毛利率: 55.09% | 品質問題: 16 筆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CLI 產出結果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真實數據 — 8 份 Excel 報表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2865120"/>
                <a:gridCol w="2865120"/>
                <a:gridCol w="28651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產出檔案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大小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工作表數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cleaned_monthly_sales.xlsx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43.4 KB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cleaned_budget_targets.xlsx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7.0 KB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cleaned_customer_feedback.xlsx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12.9 KB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cleaning_log.xlsx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5.8 KB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sales_analysis_report.xlsx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14.6 KB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kpi_dashboard.xlsx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8.8 KB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product_profit_report.xlsx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6.3 KB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data_quality_report.xlsx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7.7 KB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657600"/>
            <a:ext cx="274320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3703320"/>
            <a:ext cx="54864" cy="10058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總銷售額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13,969,794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48640" y="4343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723 筆有效訂單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00400" y="3657600"/>
            <a:ext cx="274320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3703320"/>
            <a:ext cx="54864" cy="10058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4" name="Text 11"/>
          <p:cNvSpPr/>
          <p:nvPr/>
        </p:nvSpPr>
        <p:spPr>
          <a:xfrm>
            <a:off x="347472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平均毛利率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47472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55.09%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74720" y="4343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項產品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126480" y="3657600"/>
            <a:ext cx="274320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26480" y="3703320"/>
            <a:ext cx="54864" cy="10058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清理日誌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0080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筆修正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400800" y="4343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品質問題 16 筆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產出：月度銷售趨勢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sales_analysis_report.xlsx — Sheet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月份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訂單數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銷售總額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平均客單價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月成長率%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2024-01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62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1,245,805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20,094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2024-02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59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1,078,666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18,282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-13.42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2024-03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54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997,443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18,471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-7.53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2024-04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51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963,646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18,895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-3.39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2024-05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64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1,063,890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16,623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+10.40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2024-06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62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1,331,436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21,475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+25.15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2024-07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61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1,156,278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18,955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-13.16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2024-08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64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1,086,551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16,977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-6.03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2024-09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63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1,308,631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20,772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+20.44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2024-10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55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970,032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17,637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-25.87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2024-11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67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1,594,186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23,794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+64.34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2024-12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61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1,173,230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19,233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-26.41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年度最高月份：11 月 1,594,186 | 最低月份：4 月 963,646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產出：部門樞紐 &amp; 業務排名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Sheet 2 &amp; Sheet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部門年度合計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4023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部門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年度合計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中區業務部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3,045,092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海外業務部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3,008,476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電商部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2,690,969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北區業務部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2,672,992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南區業務部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2,552,265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0" y="10058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業務員排名 Top 5</a:t>
            </a:r>
            <a:endParaRPr lang="en-US" sz="13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325880"/>
          <a:ext cx="4297680" cy="91440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排名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業務員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部門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銷售總額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趙彥廷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電商部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614,310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蔡淑芬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海外業務部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609,268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黃建宏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南區業務部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600,034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陳志明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北區業務部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586,282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吳柏翰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中區業務部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584,522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27432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產品類別銷售分布</a:t>
            </a:r>
            <a:endParaRPr lang="en-US" sz="1300" dirty="0"/>
          </a:p>
        </p:txBody>
      </p:sp>
      <p:graphicFrame>
        <p:nvGraphicFramePr>
          <p:cNvPr id="5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520440"/>
          <a:ext cx="85953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產品類別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銷售筆數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銷售總額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佔比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電腦周邊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148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4,204,100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30.1%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穿戴裝置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138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3,623,394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25.9%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音訊設備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167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2,587,734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18.5%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家電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1,835,115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13.1%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影像設備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48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903,275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6.5%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配件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172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816,176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5.8%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CLI 執行過程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 Terminal 記錄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931920"/>
          </a:xfrm>
          <a:prstGeom prst="rect">
            <a:avLst>
              <a:gd name="adj" fmla="val 1860"/>
            </a:avLst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copilot -p "$(cat prompt.txt)" --allow-all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List directory 03-advanced → 14 files found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Inspect raw Excel column names and sample data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Find Python executable → C:\miniconda3\python.exe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Check for dirty data patterns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Check more data quality issues (dates, duplicates...)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Check bracket names and catalog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Create advanced_analysis.py (+819 lines)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Run advanced_analysis.py → 成功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Verify output data quality → 全部正確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usage: 1 Premium request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time: 4m 18s | Session: 4m 51s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claude-sonnet-4.6 (346.2k in, 17.9k out)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CLI 產出結果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真實數據 — 8 份 Excel 報表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2865120"/>
                <a:gridCol w="2865120"/>
                <a:gridCol w="28651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產出檔案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大小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工作表數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42C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cleaned_monthly_sales.xlsx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41.4 KB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cleaned_budget_targets.xlsx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7.3 KB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cleaned_customer_feedback.xlsx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13.5 KB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cleaning_log.xlsx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6.0 KB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sales_analysis_report.xlsx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14.4 KB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kpi_dashboard.xlsx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9.3 KB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product_profit_report.xlsx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6.7 KB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data_quality_report.xlsx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8.3 KB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657600"/>
            <a:ext cx="274320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3703320"/>
            <a:ext cx="54864" cy="1005840"/>
          </a:xfrm>
          <a:prstGeom prst="rect">
            <a:avLst/>
          </a:prstGeom>
          <a:solidFill>
            <a:srgbClr val="6F42C1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總銷售額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13,969,794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48640" y="4343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723 筆有效訂單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00400" y="3657600"/>
            <a:ext cx="274320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3703320"/>
            <a:ext cx="54864" cy="1005840"/>
          </a:xfrm>
          <a:prstGeom prst="rect">
            <a:avLst/>
          </a:prstGeom>
          <a:solidFill>
            <a:srgbClr val="6F42C1"/>
          </a:solidFill>
          <a:ln/>
        </p:spPr>
      </p:sp>
      <p:sp>
        <p:nvSpPr>
          <p:cNvPr id="14" name="Text 11"/>
          <p:cNvSpPr/>
          <p:nvPr/>
        </p:nvSpPr>
        <p:spPr>
          <a:xfrm>
            <a:off x="347472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清理日誌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47472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 筆修正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74720" y="4343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 Gemini 多 3 筆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126480" y="3657600"/>
            <a:ext cx="274320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26480" y="3703320"/>
            <a:ext cx="54864" cy="1005840"/>
          </a:xfrm>
          <a:prstGeom prst="rect">
            <a:avLst/>
          </a:prstGeom>
          <a:solidFill>
            <a:srgbClr val="6F42C1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執行時間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0080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分 51 秒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400800" y="4343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時間 4m18s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產出：KPI 達成率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kpi_dashboard.xlsx — 真實數據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 KPI 達成率 Top 5 &amp; Bottom 5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8595360" cy="914400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業務員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部門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實際銷售額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目標金額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達成率%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42C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呂明哲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電商部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523,858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860,975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60.84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✘未達成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何品睿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中區業務部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522,692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911,297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57.36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✘未達成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劉宗翰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南區業務部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460,983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937,453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49.17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✘未達成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賴佩君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海外業務部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522,488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1,147,387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45.54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✘未達成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邱宜臻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中區業務部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525,111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1,234,073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42.55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✘未達成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 KPI 彙總</a:t>
            </a:r>
            <a:endParaRPr lang="en-US" sz="13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337560"/>
          <a:ext cx="8595360" cy="9144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部門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人數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實際銷售額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目標金額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達成率%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42C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海外業務部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3,008,476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11,375,966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26.45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南區業務部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2,552,265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10,250,336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24.90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中區業務部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3,045,092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12,767,322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23.85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北區業務部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2,672,992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11,234,753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23.79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電商部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2,690,969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11,957,376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22.50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注意：達成率偏低是因為模擬資料的預算目標設定偏高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產出：產品利潤分析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product_profit_report.xlsx — 真實數據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5156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  <a:gridCol w="1463040"/>
                <a:gridCol w="146304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類別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銷售額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毛利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毛利率%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滿意度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42C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27吋 4K 螢幕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電腦周邊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3,001,801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1,810,006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60.30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2.60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智慧手錶 S5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穿戴裝置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2,659,559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1,696,415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63.79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2.86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空氣清淨機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家電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1,835,115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1,160,732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63.25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3.56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降噪耳罩式耳機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音訊設備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1,322,269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707,638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53.52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2.67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4K 網路攝影機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影像設備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903,275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581,499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64.38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3.20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桌上型麥克風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音訊設備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728,838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406,831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55.82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2.69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機械鍵盤 87鍵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電腦周邊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716,092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364,604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50.92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2.89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無線藍牙耳機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音訊設備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536,627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303,829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56.62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2.30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智慧手環 Pro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穿戴裝置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608,576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276,671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45.46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3.80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人體工學滑鼠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電腦周邊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486,207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220,726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45.40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3.08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毛利率最高：4K 網路攝影機 64.38% | 滿意度最高：智慧手環 Pro 3.80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程式碼對比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 AI 工具產生的 Python 程式碼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4297680" cy="3840480"/>
          </a:xfrm>
          <a:prstGeom prst="rect">
            <a:avLst>
              <a:gd name="adj" fmla="val 1190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51560"/>
            <a:ext cx="54864" cy="37490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51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— 464 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3931920" cy="3200400"/>
          </a:xfrm>
          <a:prstGeom prst="rect">
            <a:avLst>
              <a:gd name="adj" fmla="val 1429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1732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openpyxl import Workbook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openpyxl.styles import Font, PatternFill...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顏色定義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COLOR_BLUE = '2F5496'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COLOR_GREEN = '548235'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format_excel(ws, title_color):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"""通用格式化函數"""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header_font = Font(bold=True, ...)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特點：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關鍵字匹配欄位名稱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通用 format_excel() 函數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較精簡的程式碼風格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97680" cy="3840480"/>
          </a:xfrm>
          <a:prstGeom prst="rect">
            <a:avLst>
              <a:gd name="adj" fmla="val 1190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51560"/>
            <a:ext cx="54864" cy="3749040"/>
          </a:xfrm>
          <a:prstGeom prst="rect">
            <a:avLst/>
          </a:prstGeom>
          <a:solidFill>
            <a:srgbClr val="6F42C1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051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42C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— 819 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1371600"/>
            <a:ext cx="3931920" cy="3200400"/>
          </a:xfrm>
          <a:prstGeom prst="rect">
            <a:avLst>
              <a:gd name="adj" fmla="val 1429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41732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"""多維度銷售分析報表產生器"""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openpyxl.formatting.rule import (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ColorScaleRule, DataBarRule, ...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樣式常數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FILL_BLUE = PatternFill('solid', ...)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FONT_HEADER = Font(bold=True, ...)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os.path.abspath 自動解析路徑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BASE_DIR = os.path.dirname(...)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特點：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完整 docstring 文件化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DifferentialStyle 條件格式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更詳盡的樣式定義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vs Copilot 總比較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真實執行數據並排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2865120"/>
                <a:gridCol w="2865120"/>
                <a:gridCol w="28651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比較項目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Gemini CLI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Copilot CLI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程式碼行數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464 行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819 行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執行成功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成功（需多次修正）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成功（一次到位）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產出檔案數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份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份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總銷售額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13,969,794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13,969,794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清理日誌筆數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 筆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 筆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品質問題數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 筆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 筆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KPI 合併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部分欄位 NaN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完整正確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利潤報表欄位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欄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 欄（更詳盡）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Top 1 業務員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趙彥廷 614,310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趙彥廷 614,310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部門冠軍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中區 3,045,092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中區 3,045,092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遇到的問題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編碼問題 + 配額限制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Python 路徑（已自動解決）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底層模型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Gemini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Claude Sonnet 4.6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清理日誌比較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13 筆 vs Copilot 16 筆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清理日誌（13 筆）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原始值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修正值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訂單日期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2024/01/03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2024-01-03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訂單日期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2024/02/11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2024-02-11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產品名稱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智彗手環 Pro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智慧手環 Pro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業務員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張冠宇（代）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張冠宇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日期(回饋)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2024/05/08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2024-05-08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75488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42C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清理日誌（16 筆）</a:t>
            </a:r>
            <a:endParaRPr lang="en-US" sz="120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2588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原始值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修正值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42C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訂單日期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2024/01/03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2024-01-03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產品名稱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智慧手環 Pro 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智慧手環 Pro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產品名稱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智彗手環 Pro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智慧手環 Pro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業務員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蕭 宥翔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蕭宥翔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產品名稱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27吋 4K 螢幕 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27吋 4K 螢幕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274320" y="3291840"/>
            <a:ext cx="8595360" cy="1554480"/>
          </a:xfrm>
          <a:prstGeom prst="rect">
            <a:avLst>
              <a:gd name="adj" fmla="val 2941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74320" y="3337560"/>
            <a:ext cx="54864" cy="1463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2" name="Text 8"/>
          <p:cNvSpPr/>
          <p:nvPr/>
        </p:nvSpPr>
        <p:spPr>
          <a:xfrm>
            <a:off x="548640" y="3383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差異分析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8640" y="37490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多偵測到 3 筆修正：業務員姓名內部空格（蕭 宥翔等）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兩者都正確偵測到日期格式、錯字、括號標注等問題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的問題描述更詳細（標明具體錯字類型）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資料品質報告比較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data_quality_report.xlsx — 問題統計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問題統計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問題類型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來源檔案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筆數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負數金額或數量0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monthly_sales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重複訂單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monthly_sales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評分超範圍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customer_feedback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預算Q合計超115%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budget_targets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75488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42C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問題統計</a:t>
            </a:r>
            <a:endParaRPr lang="en-US" sz="12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2588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問題類型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來源檔案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筆數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42C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負數金額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monthly_sales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數量為零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monthly_sales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重複訂單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monthly_sales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評分超範圍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customer_feedback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預算Q合計超115%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budget_targets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274320" y="3200400"/>
            <a:ext cx="8595360" cy="1645920"/>
          </a:xfrm>
          <a:prstGeom prst="rect">
            <a:avLst>
              <a:gd name="adj" fmla="val 2778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74320" y="3246120"/>
            <a:ext cx="54864" cy="1554480"/>
          </a:xfrm>
          <a:prstGeom prst="rect">
            <a:avLst/>
          </a:prstGeom>
          <a:solidFill>
            <a:srgbClr val="BF8F00"/>
          </a:solidFill>
          <a:ln/>
        </p:spPr>
      </p:sp>
      <p:sp>
        <p:nvSpPr>
          <p:cNvPr id="12" name="Text 8"/>
          <p:cNvSpPr/>
          <p:nvPr/>
        </p:nvSpPr>
        <p:spPr>
          <a:xfrm>
            <a:off x="548640" y="3291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差異觀察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將「負數金額」和「數量為 0」合併為同一類別（8 筆）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將兩者分開統計：負數 5 筆 + 數量為零 3 筆 = 8 筆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兩者的總問題數一致（16 筆），分類方式不同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這正好展示了：AI 對「分類」的理解會因工具而異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常見錯誤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TUTORIAL.md 整理的五大錯誤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4864" cy="5486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07008"/>
            <a:ext cx="320040" cy="32004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070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0698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分析維度不明確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069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「分析銷售數據」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1069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列出五個維度 + 各自展開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828800"/>
            <a:ext cx="859536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874520"/>
            <a:ext cx="54864" cy="5486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984248"/>
            <a:ext cx="320040" cy="32004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9842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1847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彙總方式不清楚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1847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「統計各部門銷售」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1847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指定 COUNT / SUM / AVG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606040"/>
            <a:ext cx="859536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651760"/>
            <a:ext cx="54864" cy="5486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761488"/>
            <a:ext cx="320040" cy="32004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7614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26243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圖表需求太模糊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0" y="26243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「加幾個圖表」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26243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折線圖 X=月份 Y=金額 放 A15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383280"/>
            <a:ext cx="859536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429000"/>
            <a:ext cx="54864" cy="5486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538728"/>
            <a:ext cx="320040" cy="32004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538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" y="3401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條件格式沒給色碼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00400" y="3401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「用紅綠燈標記」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0" y="3401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≥100 → #C6EFCE（綠）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160520"/>
            <a:ext cx="859536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4206240"/>
            <a:ext cx="54864" cy="5486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4315968"/>
            <a:ext cx="320040" cy="32004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3159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4400" y="4178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交叉分析沒說順序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00400" y="4178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「放在一起」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43600" y="4178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步驟 1→2→3 JOIN 順序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最佳實踐總結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今天學到的關鍵技巧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20624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4864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143000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任務編號化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4630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任務一 → 任務二 → 任務三，AI 不會搞混順序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420624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77440"/>
            <a:ext cx="54864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" y="2423160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欄位名稱全列出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27432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寫清楚每個 Sheet 的欄位順序與名稱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611880"/>
            <a:ext cx="420624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657600"/>
            <a:ext cx="54864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3703320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657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公式寫死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40233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MoM% = (本月-上月)/上月×100，不讓 AI 猜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1051560"/>
            <a:ext cx="420624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097280"/>
            <a:ext cx="54864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6" name="Shape 24"/>
          <p:cNvSpPr/>
          <p:nvPr/>
        </p:nvSpPr>
        <p:spPr>
          <a:xfrm>
            <a:off x="4846320" y="1143000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5780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色碼寫死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57800" y="14630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#C6EFCE 而非「淺綠」，確保顏色一致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2331720"/>
            <a:ext cx="420624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377440"/>
            <a:ext cx="54864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2" name="Shape 30"/>
          <p:cNvSpPr/>
          <p:nvPr/>
        </p:nvSpPr>
        <p:spPr>
          <a:xfrm>
            <a:off x="4846320" y="2423160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5780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圖表位置指定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57800" y="27432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折線圖放 A15，長條圖放 A32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9160" y="3611880"/>
            <a:ext cx="420624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657600"/>
            <a:ext cx="54864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8" name="Shape 36"/>
          <p:cNvSpPr/>
          <p:nvPr/>
        </p:nvSpPr>
        <p:spPr>
          <a:xfrm>
            <a:off x="4846320" y="3703320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257800" y="3657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驗證要求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257800" y="40233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完成後列出檔案清單 + 關鍵指標摘要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延伸應用場景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同樣的 Prompt 結構可以套用到...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206240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34440"/>
            <a:ext cx="54864" cy="12801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財務月結報表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多帳戶收支 → 樞紐分析 → 損益表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4206240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880360"/>
            <a:ext cx="54864" cy="12801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行銷活動分析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3383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不同渠道轉換率 → 漏斗圖 → ROI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1188720"/>
            <a:ext cx="4206240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234440"/>
            <a:ext cx="54864" cy="12801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庫存管理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83480" y="1737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進出貨明細 → 周轉率 → 安全庫存告警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2834640"/>
            <a:ext cx="4206240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880360"/>
            <a:ext cx="54864" cy="12801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專案進度追蹤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83480" y="3383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多專案里程碑 → 甘特圖 → 延遲告警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核心方法：任務編號 + 公式指定 + 色碼指定 + 驗證要求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課後練習建議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動手試試看！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54864" cy="6400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98448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984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143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 Prompt 加入更多圖表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463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在銷售分析中加入堆疊長條圖、散佈圖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822960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011680"/>
            <a:ext cx="54864" cy="6400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2167128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1671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嘗試不同的 AI 工具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331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用同一份 Prompt 在 Claude Code、Cursor 上執行比較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80360"/>
            <a:ext cx="54864" cy="6400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035808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358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2880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套用到你的工作資料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Prompt 結構套用到真實的業務報表（記得先脫敏！）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822960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749040"/>
            <a:ext cx="54864" cy="6400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3904488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9044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進階格式化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4069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加入色階（Color Scale）、圖示集（Icon Set）等更多條件格式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0972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你不需要會寫程式，只需要會描述你要什麼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0" y="3200400"/>
            <a:ext cx="4572000" cy="1828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38328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今日重點回顧：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六大 Prompt 原則 → 一段 Prompt 產出 8 份報表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CLI vs Copilot CLI 真實比較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年度銷售額 13,969,794 | 品質問題 16 筆 | 全自動處理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多維度銷售分析 - AI 工具教學</dc:subject>
  <dc:creator>AI Tool Tutorial</dc:creator>
  <cp:lastModifiedBy>AI Tool Tutorial</cp:lastModifiedBy>
  <cp:revision>1</cp:revision>
  <dcterms:created xsi:type="dcterms:W3CDTF">2026-03-13T03:02:05Z</dcterms:created>
  <dcterms:modified xsi:type="dcterms:W3CDTF">2026-03-13T03:02:05Z</dcterms:modified>
</cp:coreProperties>
</file>