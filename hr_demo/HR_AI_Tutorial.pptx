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66" d="100"/>
          <a:sy n="166" d="100"/>
        </p:scale>
        <p:origin x="730" y="30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366849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474720"/>
            <a:ext cx="9144000" cy="1691640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 AI 完成 HR 資料處理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19456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D6E4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不會寫程式也能自動化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365760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Gemini CLI  |  GitHub Copilot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rgbClr val="D6E4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 × AI 自動化教學課程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今日學習目標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66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 / 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804672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/>
          <p:cNvSpPr/>
          <p:nvPr/>
        </p:nvSpPr>
        <p:spPr>
          <a:xfrm>
            <a:off x="777240" y="1417320"/>
            <a:ext cx="548640" cy="548640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777240" y="1417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554480" y="128016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理解 Prompt 撰寫原則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554480" y="169164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666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學會「角色→情境→任務→格式→驗證」五大結構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2423160"/>
            <a:ext cx="804672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1" name="Shape 9"/>
          <p:cNvSpPr/>
          <p:nvPr/>
        </p:nvSpPr>
        <p:spPr>
          <a:xfrm>
            <a:off x="777240" y="2651760"/>
            <a:ext cx="548640" cy="548640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777240" y="2651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554480" y="251460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 AI CLI 工具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554480" y="292608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666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實際運行 Gemini CLI 與 Copilot，用說的就能寫出程式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657600"/>
            <a:ext cx="804672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6" name="Shape 14"/>
          <p:cNvSpPr/>
          <p:nvPr/>
        </p:nvSpPr>
        <p:spPr>
          <a:xfrm>
            <a:off x="777240" y="3886200"/>
            <a:ext cx="548640" cy="548640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7" name="Text 15"/>
          <p:cNvSpPr/>
          <p:nvPr/>
        </p:nvSpPr>
        <p:spPr>
          <a:xfrm>
            <a:off x="777240" y="3886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554480" y="374904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 HR 自動化案例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554480" y="416052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666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資料清理、異常偵測、摘要報表、通知信產出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HR 日常痛點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66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 / 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3192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73152" cy="1645920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731520" y="12344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多檔比對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16916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退休名冊、健保清單、給付通知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三份 Excel 手動比對極易出錯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754880" y="1097280"/>
            <a:ext cx="393192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0" name="Shape 8"/>
          <p:cNvSpPr/>
          <p:nvPr/>
        </p:nvSpPr>
        <p:spPr>
          <a:xfrm>
            <a:off x="4754880" y="1097280"/>
            <a:ext cx="73152" cy="1645920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5029200" y="12344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格式不一致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029200" y="16916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日期 2025/06/30 vs 2025-06-30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身分證字號大小寫混用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971800"/>
            <a:ext cx="393192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73152" cy="1645920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5" name="Text 13"/>
          <p:cNvSpPr/>
          <p:nvPr/>
        </p:nvSpPr>
        <p:spPr>
          <a:xfrm>
            <a:off x="731520" y="31089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重複與矛盾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31520" y="356616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同一員工編號在不同檔案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姓名不一致、資料重複登錄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754880" y="2971800"/>
            <a:ext cx="393192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8" name="Shape 16"/>
          <p:cNvSpPr/>
          <p:nvPr/>
        </p:nvSpPr>
        <p:spPr>
          <a:xfrm>
            <a:off x="4754880" y="2971800"/>
            <a:ext cx="73152" cy="1645920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9" name="Text 17"/>
          <p:cNvSpPr/>
          <p:nvPr/>
        </p:nvSpPr>
        <p:spPr>
          <a:xfrm>
            <a:off x="5029200" y="31089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人工出錯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5029200" y="356616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複製貼上失誤、公式拉錯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每次處理耗時數小時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程式碼工具介紹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66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 / 20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2E75B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「用說的就能寫出程式」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45920"/>
            <a:ext cx="393192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3931920" cy="50292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640080" y="169164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Gemini CLI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2286000"/>
            <a:ext cx="3566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Google 提供的 AI 命令列工具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直接在終端機下指令，自動產生程式碼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支援檔案讀寫、執行腳本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2E75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gemini -p "&lt;Prompt&gt;" -y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754880" y="1645920"/>
            <a:ext cx="393192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1" name="Shape 9"/>
          <p:cNvSpPr/>
          <p:nvPr/>
        </p:nvSpPr>
        <p:spPr>
          <a:xfrm>
            <a:off x="4754880" y="1645920"/>
            <a:ext cx="3931920" cy="50292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4937760" y="169164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GitHub Copilot CLI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937760" y="2286000"/>
            <a:ext cx="3566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GitHub / Microsoft 提供的 AI 工具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同樣在終端機執行，AI 自動寫程式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內建程式碼分析與執行能力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2E75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 -p "&lt;Prompt&gt;" --allow-all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環境準備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66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/ 20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666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只需要安裝三個套件，不需要 API Key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1645920"/>
            <a:ext cx="82296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731520" y="173736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1  安裝 Python 套件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731520" y="2194560"/>
            <a:ext cx="7680960" cy="64008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9" name="Text 7"/>
          <p:cNvSpPr/>
          <p:nvPr/>
        </p:nvSpPr>
        <p:spPr>
          <a:xfrm>
            <a:off x="914400" y="22402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pandas numpy openpyxl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3291840"/>
            <a:ext cx="38404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731520" y="33832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2  安裝 Gemini CLI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31520" y="3840480"/>
            <a:ext cx="3291840" cy="54864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3" name="Text 11"/>
          <p:cNvSpPr/>
          <p:nvPr/>
        </p:nvSpPr>
        <p:spPr>
          <a:xfrm>
            <a:off x="822960" y="38862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install -g @google/gemini-cli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846320" y="3291840"/>
            <a:ext cx="38404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5" name="Text 13"/>
          <p:cNvSpPr/>
          <p:nvPr/>
        </p:nvSpPr>
        <p:spPr>
          <a:xfrm>
            <a:off x="5120640" y="33832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3  安裝 Copilot CLI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120640" y="3840480"/>
            <a:ext cx="3291840" cy="54864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7" name="Text 15"/>
          <p:cNvSpPr/>
          <p:nvPr/>
        </p:nvSpPr>
        <p:spPr>
          <a:xfrm>
            <a:off x="5212080" y="38862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install -g @anthropic-ai/claude-code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案例情境：3 份 HR Excel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66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 / 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82296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73152" cy="1188720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731520" y="10972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退休名冊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14630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E75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retirement_roster.xlsx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7830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666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30 筆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017520" y="11430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員工編號、姓名、身分證字號、部門、職等、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出生日期、到職日、預計退休日、備註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82296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2" name="Shape 10"/>
          <p:cNvSpPr/>
          <p:nvPr/>
        </p:nvSpPr>
        <p:spPr>
          <a:xfrm>
            <a:off x="457200" y="2377440"/>
            <a:ext cx="73152" cy="1188720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3" name="Text 11"/>
          <p:cNvSpPr/>
          <p:nvPr/>
        </p:nvSpPr>
        <p:spPr>
          <a:xfrm>
            <a:off x="731520" y="24231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健保轉出清單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31520" y="27889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E75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nhi_transfer_list.xlsx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666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25 筆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017520" y="246888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員工編號、姓名、身分證字號、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轉出日期、投保金額、投保區分、備註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703320"/>
            <a:ext cx="82296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8" name="Shape 16"/>
          <p:cNvSpPr/>
          <p:nvPr/>
        </p:nvSpPr>
        <p:spPr>
          <a:xfrm>
            <a:off x="457200" y="3703320"/>
            <a:ext cx="73152" cy="1188720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9" name="Text 17"/>
          <p:cNvSpPr/>
          <p:nvPr/>
        </p:nvSpPr>
        <p:spPr>
          <a:xfrm>
            <a:off x="731520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給付通知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731520" y="41148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E75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payment_notification.xlsx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31520" y="44348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666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 筆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017520" y="379476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員工編號、姓名、給付類型、應付金額、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銀行代碼、帳號、發放日期、備註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資料中的問題 與 處理流程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66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 / 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411480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548640" y="1143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髒資料類型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1600200"/>
            <a:ext cx="36576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姓名前後多餘空白：" 王淑芬"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日期格式混用：2025/06/30 vs 2025-06-30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身分證字號大小寫混用：a123456789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隱藏亂碼：零寬字元 \u200b、BOM \ufeff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投保金額為負數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預計退休日早於到職日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同一員工跨檔姓名不一致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303520" y="1097280"/>
            <a:ext cx="3200400" cy="777240"/>
          </a:xfrm>
          <a:prstGeom prst="rect">
            <a:avLst/>
          </a:prstGeom>
          <a:solidFill>
            <a:srgbClr val="C62828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9" name="Text 7"/>
          <p:cNvSpPr/>
          <p:nvPr/>
        </p:nvSpPr>
        <p:spPr>
          <a:xfrm>
            <a:off x="5303520" y="109728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raw/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原始資料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675120" y="187452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66666"/>
                </a:solidFill>
              </a:rPr>
              <a:t>▼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303520" y="2057400"/>
            <a:ext cx="3200400" cy="777240"/>
          </a:xfrm>
          <a:prstGeom prst="rect">
            <a:avLst/>
          </a:prstGeom>
          <a:solidFill>
            <a:srgbClr val="EF6C00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5303520" y="205740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清理規則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(4 條)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283464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66666"/>
                </a:solidFill>
              </a:rPr>
              <a:t>▼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303520" y="3017520"/>
            <a:ext cx="3200400" cy="777240"/>
          </a:xfrm>
          <a:prstGeom prst="rect">
            <a:avLst/>
          </a:prstGeom>
          <a:solidFill>
            <a:srgbClr val="2E75B6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5" name="Text 13"/>
          <p:cNvSpPr/>
          <p:nvPr/>
        </p:nvSpPr>
        <p:spPr>
          <a:xfrm>
            <a:off x="5303520" y="301752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異常檢測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(6+2+2+1 規則)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675120" y="37947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66666"/>
                </a:solidFill>
              </a:rPr>
              <a:t>▼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303520" y="3977640"/>
            <a:ext cx="3200400" cy="777240"/>
          </a:xfrm>
          <a:prstGeom prst="rect">
            <a:avLst/>
          </a:prstGeom>
          <a:solidFill>
            <a:srgbClr val="2E7D32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/>
          <p:nvPr/>
        </p:nvSpPr>
        <p:spPr>
          <a:xfrm>
            <a:off x="5303520" y="397764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output/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報表 + 通知信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Prompt 五大原則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66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 / 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82296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/>
          <p:cNvSpPr/>
          <p:nvPr/>
        </p:nvSpPr>
        <p:spPr>
          <a:xfrm>
            <a:off x="640080" y="1152144"/>
            <a:ext cx="457200" cy="457200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640080" y="11521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80160" y="1097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明確指定輸入與輸出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80160" y="1399032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666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告訴 AI 讀什麼檔案、結果存到哪裡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1828800"/>
            <a:ext cx="82296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1" name="Shape 9"/>
          <p:cNvSpPr/>
          <p:nvPr/>
        </p:nvSpPr>
        <p:spPr>
          <a:xfrm>
            <a:off x="640080" y="1929384"/>
            <a:ext cx="457200" cy="457200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640080" y="19293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280160" y="18745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分任務描述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80160" y="2176272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666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把大任務拆成小任務，逐一描述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606040"/>
            <a:ext cx="82296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6" name="Shape 14"/>
          <p:cNvSpPr/>
          <p:nvPr/>
        </p:nvSpPr>
        <p:spPr>
          <a:xfrm>
            <a:off x="640080" y="2706624"/>
            <a:ext cx="457200" cy="457200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7" name="Text 15"/>
          <p:cNvSpPr/>
          <p:nvPr/>
        </p:nvSpPr>
        <p:spPr>
          <a:xfrm>
            <a:off x="640080" y="27066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80160" y="2651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具體列出檢查規則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80160" y="2953512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666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明確寫出每一條規則，不用模糊說法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3383280"/>
            <a:ext cx="82296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1" name="Shape 19"/>
          <p:cNvSpPr/>
          <p:nvPr/>
        </p:nvSpPr>
        <p:spPr>
          <a:xfrm>
            <a:off x="640080" y="3483864"/>
            <a:ext cx="457200" cy="457200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2" name="Text 20"/>
          <p:cNvSpPr/>
          <p:nvPr/>
        </p:nvSpPr>
        <p:spPr>
          <a:xfrm>
            <a:off x="64008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280160" y="34290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提供輸出格式範本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280160" y="3730752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666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 {xxx} 佔位符給模板，AI 直接填空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4160520"/>
            <a:ext cx="82296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6" name="Shape 24"/>
          <p:cNvSpPr/>
          <p:nvPr/>
        </p:nvSpPr>
        <p:spPr>
          <a:xfrm>
            <a:off x="640080" y="4261104"/>
            <a:ext cx="457200" cy="457200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7" name="Text 25"/>
          <p:cNvSpPr/>
          <p:nvPr/>
        </p:nvSpPr>
        <p:spPr>
          <a:xfrm>
            <a:off x="640080" y="42611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280160" y="42062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說明資料關聯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280160" y="4507992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666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告訴 AI 三份檔案之間的關係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原則詳解（一）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66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 / 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411480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548640" y="11430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原則一：明確指定輸入與輸出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554480"/>
            <a:ext cx="3749040" cy="548640"/>
          </a:xfrm>
          <a:prstGeom prst="rect">
            <a:avLst/>
          </a:prstGeom>
          <a:solidFill>
            <a:srgbClr val="FDEAE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640080" y="16002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628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✘  幫我處理 HR 資料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286000"/>
            <a:ext cx="3749040" cy="2103120"/>
          </a:xfrm>
          <a:prstGeom prst="rect">
            <a:avLst/>
          </a:prstGeom>
          <a:solidFill>
            <a:srgbClr val="E8F5E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/>
          <p:nvPr/>
        </p:nvSpPr>
        <p:spPr>
          <a:xfrm>
            <a:off x="640080" y="2331720"/>
            <a:ext cx="3566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✔  請讀取 hr_demo/raw/ 目錄下的三份 Excel：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retirement_roster.xlsx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nhi_transfer_list.xlsx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payment_notification.xlsx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處理結果請輸出到 hr_demo/output/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1051560"/>
            <a:ext cx="411480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4846320" y="11430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原則二：分任務描述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846320" y="1554480"/>
            <a:ext cx="3749040" cy="548640"/>
          </a:xfrm>
          <a:prstGeom prst="rect">
            <a:avLst/>
          </a:prstGeom>
          <a:solidFill>
            <a:srgbClr val="FDEAE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4937760" y="16002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628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✘  把資料整理好然後產出報表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846320" y="2286000"/>
            <a:ext cx="3749040" cy="2103120"/>
          </a:xfrm>
          <a:prstGeom prst="rect">
            <a:avLst/>
          </a:prstGeom>
          <a:solidFill>
            <a:srgbClr val="E8F5E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4"/>
          <p:cNvSpPr/>
          <p:nvPr/>
        </p:nvSpPr>
        <p:spPr>
          <a:xfrm>
            <a:off x="4937760" y="2331720"/>
            <a:ext cx="3566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✔  任務一：自動清理資料格式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（姓名去空白、日期統一、身分證轉大寫）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任務二：異常報告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（格式異常、邏輯異常、跨檔比對）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任務三：摘要報表 + 通知信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原則詳解（二）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66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84124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548640" y="10515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原則三：具體列出檢查規則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3474720" cy="685800"/>
          </a:xfrm>
          <a:prstGeom prst="rect">
            <a:avLst/>
          </a:prstGeom>
          <a:solidFill>
            <a:srgbClr val="FDEAE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640080" y="138988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628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✘ 檢查有沒有錯誤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0" y="1371600"/>
            <a:ext cx="4023360" cy="685800"/>
          </a:xfrm>
          <a:prstGeom prst="rect">
            <a:avLst/>
          </a:prstGeom>
          <a:solidFill>
            <a:srgbClr val="E8F5E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/>
          <p:nvPr/>
        </p:nvSpPr>
        <p:spPr>
          <a:xfrm>
            <a:off x="4663440" y="1389888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✔ 身分證字號必須是 1碼大寫英文+9碼數字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投保金額不得為負數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銀行代碼必須是 3 碼數字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2331720"/>
            <a:ext cx="84124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548640" y="23774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原則四：提供輸出格式範本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2697480"/>
            <a:ext cx="3474720" cy="685800"/>
          </a:xfrm>
          <a:prstGeom prst="rect">
            <a:avLst/>
          </a:prstGeom>
          <a:solidFill>
            <a:srgbClr val="FDEAE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640080" y="271576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628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✘ 產一封通知信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0" y="2697480"/>
            <a:ext cx="4023360" cy="685800"/>
          </a:xfrm>
          <a:prstGeom prst="rect">
            <a:avLst/>
          </a:prstGeom>
          <a:solidFill>
            <a:srgbClr val="E8F5E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4"/>
          <p:cNvSpPr/>
          <p:nvPr/>
        </p:nvSpPr>
        <p:spPr>
          <a:xfrm>
            <a:off x="4663440" y="2715768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✔ 【退休離職通知】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{姓名} 先生/女士 您好：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退休生效日為 {預計退休日}…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3657600"/>
            <a:ext cx="84124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/>
          <p:nvPr/>
        </p:nvSpPr>
        <p:spPr>
          <a:xfrm>
            <a:off x="548640" y="37033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原則五：說明資料關聯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023360"/>
            <a:ext cx="3474720" cy="685800"/>
          </a:xfrm>
          <a:prstGeom prst="rect">
            <a:avLst/>
          </a:prstGeom>
          <a:solidFill>
            <a:srgbClr val="FDEAE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0" name="Text 18"/>
          <p:cNvSpPr/>
          <p:nvPr/>
        </p:nvSpPr>
        <p:spPr>
          <a:xfrm>
            <a:off x="640080" y="404164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628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✘ 把三份資料合在一起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0" y="4023360"/>
            <a:ext cx="4023360" cy="685800"/>
          </a:xfrm>
          <a:prstGeom prst="rect">
            <a:avLst/>
          </a:prstGeom>
          <a:solidFill>
            <a:srgbClr val="E8F5E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2" name="Text 20"/>
          <p:cNvSpPr/>
          <p:nvPr/>
        </p:nvSpPr>
        <p:spPr>
          <a:xfrm>
            <a:off x="4663440" y="4041648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✔ 三份檔案以「員工編號」做 inner join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只保留三份都有出現的員工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完整 Prompt </a:t>
            </a:r>
            <a:r>
              <a:rPr lang="en-US" sz="2800" b="1" dirty="0" err="1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展示</a:t>
            </a:r>
            <a:r>
              <a:rPr lang="zh-TW" alt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r>
              <a:rPr lang="en-US" altLang="zh-TW" sz="2800" b="1" dirty="0">
                <a:solidFill>
                  <a:srgbClr val="FF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(</a:t>
            </a:r>
            <a:r>
              <a:rPr lang="zh-TW" altLang="en-US" sz="2800" b="1" dirty="0">
                <a:solidFill>
                  <a:srgbClr val="FF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可以跟</a:t>
            </a:r>
            <a:r>
              <a:rPr lang="en-US" altLang="zh-TW" sz="2800" b="1" dirty="0">
                <a:solidFill>
                  <a:srgbClr val="FF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r>
              <a:rPr lang="zh-TW" altLang="en-US" sz="2800" b="1" dirty="0">
                <a:solidFill>
                  <a:srgbClr val="FF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討論</a:t>
            </a:r>
            <a:r>
              <a:rPr lang="en-US" altLang="zh-TW" sz="2800" b="1" dirty="0">
                <a:solidFill>
                  <a:srgbClr val="FF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66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4114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/>
          <p:cNvSpPr/>
          <p:nvPr/>
        </p:nvSpPr>
        <p:spPr>
          <a:xfrm>
            <a:off x="365760" y="1005840"/>
            <a:ext cx="4114800" cy="320040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457200" y="102412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指定腳本與路徑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2920" y="1389888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請在 hr_demo/ 目錄下建立 process_data.py，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讀取 hr_demo/raw/ 的三份原始 Excel…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1005840"/>
            <a:ext cx="4114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0" name="Shape 8"/>
          <p:cNvSpPr/>
          <p:nvPr/>
        </p:nvSpPr>
        <p:spPr>
          <a:xfrm>
            <a:off x="4754880" y="1005840"/>
            <a:ext cx="4114800" cy="320040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4846320" y="102412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任務一：清理規則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92040" y="1389888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姓名去空白、日期統一 YYYY-MM-DD、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身分證轉大寫、移除零寬字元…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2331720"/>
            <a:ext cx="4114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4" name="Shape 12"/>
          <p:cNvSpPr/>
          <p:nvPr/>
        </p:nvSpPr>
        <p:spPr>
          <a:xfrm>
            <a:off x="365760" y="2331720"/>
            <a:ext cx="4114800" cy="320040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5" name="Text 13"/>
          <p:cNvSpPr/>
          <p:nvPr/>
        </p:nvSpPr>
        <p:spPr>
          <a:xfrm>
            <a:off x="457200" y="23500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任務二：異常報告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02920" y="2715768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 個 Sheet：格式異常、邏輯異常、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跨檔比對、重複資料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54880" y="2331720"/>
            <a:ext cx="4114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8" name="Shape 16"/>
          <p:cNvSpPr/>
          <p:nvPr/>
        </p:nvSpPr>
        <p:spPr>
          <a:xfrm>
            <a:off x="4754880" y="2331720"/>
            <a:ext cx="4114800" cy="320040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9" name="Text 17"/>
          <p:cNvSpPr/>
          <p:nvPr/>
        </p:nvSpPr>
        <p:spPr>
          <a:xfrm>
            <a:off x="4846320" y="23500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任務三：摘要報表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892040" y="2715768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儀表板 + 退休人員總表 + 給付明細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65760" y="3657600"/>
            <a:ext cx="4114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2" name="Shape 20"/>
          <p:cNvSpPr/>
          <p:nvPr/>
        </p:nvSpPr>
        <p:spPr>
          <a:xfrm>
            <a:off x="365760" y="3657600"/>
            <a:ext cx="4114800" cy="320040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3" name="Text 21"/>
          <p:cNvSpPr/>
          <p:nvPr/>
        </p:nvSpPr>
        <p:spPr>
          <a:xfrm>
            <a:off x="457200" y="367588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⑤ 通知信模板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02920" y="4041648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【退休離職通知】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{姓名} 先生/女士 您好：…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3657600"/>
            <a:ext cx="4114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6" name="Shape 24"/>
          <p:cNvSpPr/>
          <p:nvPr/>
        </p:nvSpPr>
        <p:spPr>
          <a:xfrm>
            <a:off x="4754880" y="3657600"/>
            <a:ext cx="4114800" cy="320040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7" name="Text 25"/>
          <p:cNvSpPr/>
          <p:nvPr/>
        </p:nvSpPr>
        <p:spPr>
          <a:xfrm>
            <a:off x="4846320" y="367588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⑥ 驗證要求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892040" y="4041648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完成後列出 output 目錄的所有檔案，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並顯示儀表板內容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Gemini CLI 執行畫面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66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20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666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真實終端機記錄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371600"/>
            <a:ext cx="8412480" cy="3383280"/>
          </a:xfrm>
          <a:prstGeom prst="rect">
            <a:avLst/>
          </a:prstGeom>
          <a:solidFill>
            <a:srgbClr val="1E1E1E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548640" y="1463040"/>
            <a:ext cx="8046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gemini -p "$(cat hr_demo/prompt.txt)" -y -o text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YOLO mode is enabled. All tool calls will be automatically approved.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Loaded cached credentials.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我將開始執行您的需求，首先檢查 hr_demo/raw/ 目錄下的原始檔案結構…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我將撰寫腳本來確認 payment_notification.xlsx 的確切欄位名稱…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我將參考 process_data_original.py 並撰寫 process_data.py…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執行腳本…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已成功建立並執行 hr_demo/process_data.py，完成資料清理、異常偵測及摘要報表產出。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Gemini CLI 產出結果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66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20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666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總覽儀表板（真實資料）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4114800" cy="260604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數值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退休名冊筆數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健保清單筆數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給付通知筆數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C6282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格式異常總數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6282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邏輯異常總數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跨檔異常總數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重複資料總數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846320" y="1005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666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產出檔案清單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754880" y="1371600"/>
            <a:ext cx="393192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9" name="Text 6"/>
          <p:cNvSpPr/>
          <p:nvPr/>
        </p:nvSpPr>
        <p:spPr>
          <a:xfrm>
            <a:off x="4937760" y="1508760"/>
            <a:ext cx="356616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cleaned_retirement_roster.xlsx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cleaned_nhi_transfer_list.xlsx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cleaned_payment_notification.xlsx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anomaly_report.xlsx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summary_report.xlsx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notification_letters.txt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937760" y="41148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75B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Gemini 從零寫出 process_data.py，產生 6 個檔案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Copilot 執行畫面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66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/ 20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666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真實終端機記錄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371600"/>
            <a:ext cx="8412480" cy="3383280"/>
          </a:xfrm>
          <a:prstGeom prst="rect">
            <a:avLst/>
          </a:prstGeom>
          <a:solidFill>
            <a:srgbClr val="1E1E1E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548640" y="1463040"/>
            <a:ext cx="8046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copilot -p "$(cat hr_demo/prompt.txt)" --allow-all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List directory hr_demo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└ 15 files found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Glob "hr_demo/raw/*.xlsx"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└ 3 files found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Read hr_demo\generate_data.py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Read hr_demo\process_data_original.py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Copy process_data_original.py to process_data.py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Run process_data.py with conda python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List output files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Print 總覽儀表板 content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 session time: 1m 19s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Copilot 產出結果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66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 / 20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666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總覽儀表板（真實資料）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5029200" cy="3063240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數值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退休名冊筆數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健保清單筆數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給付通知筆數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C6282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格式異常筆數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6282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14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邏輯異常筆數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跨檔比對異常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重複資料筆數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3333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異常總計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3333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26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清理前資料品質率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C6282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65.3%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清理後品質率（格式）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100.0%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0" y="1371600"/>
            <a:ext cx="31089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8" name="Text 5"/>
          <p:cNvSpPr/>
          <p:nvPr/>
        </p:nvSpPr>
        <p:spPr>
          <a:xfrm>
            <a:off x="5852160" y="1463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執行統計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5852160" y="187452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API 時間：54s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總時間：1m 19s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模型：claude-sonnet-4.6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Premium 請求：1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0" y="3383280"/>
            <a:ext cx="31089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1" name="Text 8"/>
          <p:cNvSpPr/>
          <p:nvPr/>
        </p:nvSpPr>
        <p:spPr>
          <a:xfrm>
            <a:off x="5852160" y="34747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 6 個檔案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5852160" y="38404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666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 Gemini 產出相同檔案結構，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666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但異常數量不同（檢測更嚴格）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雙工具比較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66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 / 20</a:t>
            </a:r>
            <a:endParaRPr lang="en-US" sz="9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8595360" cy="306324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比較項目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Gemini CLI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Copilot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產出檔案數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 個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 個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程式碼產生方式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75B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從零寫出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EF6C0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複用現有腳本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格式異常數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14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邏輯異常數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跨檔異常數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執行時間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約 5-8 分鐘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 分 19 秒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特點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自主性高，從頭理解需求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善用現有資源，執行快速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389120"/>
            <a:ext cx="84124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7" name="Text 4"/>
          <p:cNvSpPr/>
          <p:nvPr/>
        </p:nvSpPr>
        <p:spPr>
          <a:xfrm>
            <a:off x="548640" y="443484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E75B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重點：同一個 Prompt，不同工具會有不同的解題策略，但都能完成任務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異常報告解析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66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17 / 20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666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真實產出的 anomaly_report.xlsx 包含 4 個工作表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371600"/>
            <a:ext cx="84124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7" name="Shape 5"/>
          <p:cNvSpPr/>
          <p:nvPr/>
        </p:nvSpPr>
        <p:spPr>
          <a:xfrm>
            <a:off x="365760" y="1371600"/>
            <a:ext cx="73152" cy="777240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640080" y="1399032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Sheet 1：格式異常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1627632"/>
            <a:ext cx="7863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欄位：來源檔案 | 列號 | 欄位名稱 | 原始值 | 問題描述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1856232"/>
            <a:ext cx="7863840" cy="22860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731520" y="1856232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範例：給付通知 | 5 | 應付金額 | 0 | 應付金額為 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2286000"/>
            <a:ext cx="84124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3" name="Shape 11"/>
          <p:cNvSpPr/>
          <p:nvPr/>
        </p:nvSpPr>
        <p:spPr>
          <a:xfrm>
            <a:off x="365760" y="2286000"/>
            <a:ext cx="73152" cy="777240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640080" y="2313432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Sheet 2：邏輯異常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2542032"/>
            <a:ext cx="7863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欄位：來源檔案 | 列號 | 問題描述 | 相關欄位值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2770632"/>
            <a:ext cx="7863840" cy="22860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7" name="Text 15"/>
          <p:cNvSpPr/>
          <p:nvPr/>
        </p:nvSpPr>
        <p:spPr>
          <a:xfrm>
            <a:off x="731520" y="2770632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範例：退休名冊 | 8 | 預計退休日早於到職日 | 2011-09-15 &lt; 2015-03-01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5760" y="3200400"/>
            <a:ext cx="84124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9" name="Shape 17"/>
          <p:cNvSpPr/>
          <p:nvPr/>
        </p:nvSpPr>
        <p:spPr>
          <a:xfrm>
            <a:off x="365760" y="3200400"/>
            <a:ext cx="73152" cy="777240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0" name="Text 18"/>
          <p:cNvSpPr/>
          <p:nvPr/>
        </p:nvSpPr>
        <p:spPr>
          <a:xfrm>
            <a:off x="640080" y="3227832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Sheet 3：跨檔比對異常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3456432"/>
            <a:ext cx="7863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欄位：員工編號 | 問題描述 | 檔案一值 | 檔案二值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40080" y="3685032"/>
            <a:ext cx="7863840" cy="22860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3" name="Text 21"/>
          <p:cNvSpPr/>
          <p:nvPr/>
        </p:nvSpPr>
        <p:spPr>
          <a:xfrm>
            <a:off x="731520" y="3685032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範例：EMP003 | 姓名不一致 | 王小明 | 王永明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" y="4114800"/>
            <a:ext cx="84124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5" name="Shape 23"/>
          <p:cNvSpPr/>
          <p:nvPr/>
        </p:nvSpPr>
        <p:spPr>
          <a:xfrm>
            <a:off x="365760" y="4114800"/>
            <a:ext cx="73152" cy="777240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6" name="Text 24"/>
          <p:cNvSpPr/>
          <p:nvPr/>
        </p:nvSpPr>
        <p:spPr>
          <a:xfrm>
            <a:off x="640080" y="4142232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Sheet 4：重複資料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40080" y="4370832"/>
            <a:ext cx="7863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欄位：來源檔案 | 員工編號 | 出現次數 | 相關列號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40080" y="4599432"/>
            <a:ext cx="7863840" cy="22860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9" name="Text 27"/>
          <p:cNvSpPr/>
          <p:nvPr/>
        </p:nvSpPr>
        <p:spPr>
          <a:xfrm>
            <a:off x="731520" y="4599432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範例：退休名冊 | EMP010 | 2 | 10, 25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通知信範例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66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18 / 20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666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真實產出的 notification_letters.txt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822960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411480"/>
          </a:xfrm>
          <a:prstGeom prst="rect">
            <a:avLst/>
          </a:prstGeom>
          <a:solidFill>
            <a:srgbClr val="D6E4F0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64008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【退休離職通知】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1920240"/>
            <a:ext cx="7772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周冠宇 先生/女士 您好：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感謝您在本公司 財務部 服務多年。您的退休生效日為 </a:t>
            </a:r>
            <a:r>
              <a:rPr lang="en-US" sz="1400" b="1" dirty="0">
                <a:solidFill>
                  <a:srgbClr val="2E75B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2011年09月15日</a:t>
            </a:r>
            <a:r>
              <a:rPr lang="en-US" sz="14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。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相關退休給付金額為新台幣 </a:t>
            </a:r>
            <a:r>
              <a:rPr lang="en-US" sz="1400" b="1" dirty="0">
                <a:solidFill>
                  <a:srgbClr val="2E75B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1,460,771</a:t>
            </a:r>
            <a:r>
              <a:rPr lang="en-US" sz="14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元整，將於 </a:t>
            </a:r>
            <a:r>
              <a:rPr lang="en-US" sz="1400" b="1" dirty="0">
                <a:solidFill>
                  <a:srgbClr val="2E75B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2025年06月21日</a:t>
            </a:r>
            <a:r>
              <a:rPr lang="en-US" sz="14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撥入您指定帳戶。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健保將於 </a:t>
            </a:r>
            <a:r>
              <a:rPr lang="en-US" sz="1400" b="1" dirty="0">
                <a:solidFill>
                  <a:srgbClr val="2E75B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2026年01月08日</a:t>
            </a:r>
            <a:r>
              <a:rPr lang="en-US" sz="14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辦理轉出。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如有任何疑問，請洽人力資源部。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E75B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日期使用 YYYY年MM月15日 格式  |  金額加入千分位逗號  |  每封通知間用 --- 分隔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常見錯誤與改進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66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19 / 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8412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/>
          <p:cNvSpPr/>
          <p:nvPr/>
        </p:nvSpPr>
        <p:spPr>
          <a:xfrm>
            <a:off x="502920" y="1124712"/>
            <a:ext cx="411480" cy="411480"/>
          </a:xfrm>
          <a:prstGeom prst="ellipse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502920" y="11247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97280" y="10515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需求太籠統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7280" y="13533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6282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✘ 請幫我整理 Excel 資料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754880" y="11887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7D3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✔ 指定具體操作與檔案路徑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1810512"/>
            <a:ext cx="8412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2" name="Shape 10"/>
          <p:cNvSpPr/>
          <p:nvPr/>
        </p:nvSpPr>
        <p:spPr>
          <a:xfrm>
            <a:off x="502920" y="1929384"/>
            <a:ext cx="411480" cy="411480"/>
          </a:xfrm>
          <a:prstGeom prst="ellipse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3" name="Text 11"/>
          <p:cNvSpPr/>
          <p:nvPr/>
        </p:nvSpPr>
        <p:spPr>
          <a:xfrm>
            <a:off x="502920" y="192938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97280" y="18562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檢查標準不明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97280" y="215798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6282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✘ 檢查有沒有錯誤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754880" y="199339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7D3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✔ 逐條列出可判斷的規則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2615184"/>
            <a:ext cx="8412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8" name="Shape 16"/>
          <p:cNvSpPr/>
          <p:nvPr/>
        </p:nvSpPr>
        <p:spPr>
          <a:xfrm>
            <a:off x="502920" y="2734056"/>
            <a:ext cx="411480" cy="411480"/>
          </a:xfrm>
          <a:prstGeom prst="ellipse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9" name="Text 17"/>
          <p:cNvSpPr/>
          <p:nvPr/>
        </p:nvSpPr>
        <p:spPr>
          <a:xfrm>
            <a:off x="502920" y="273405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097280" y="266090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報表結構不清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97280" y="29626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6282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✘ 產出報表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754880" y="2798064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7D3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✔ 指定 Sheet 名稱、欄位、結構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3419856"/>
            <a:ext cx="8412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4" name="Shape 22"/>
          <p:cNvSpPr/>
          <p:nvPr/>
        </p:nvSpPr>
        <p:spPr>
          <a:xfrm>
            <a:off x="502920" y="3538728"/>
            <a:ext cx="411480" cy="411480"/>
          </a:xfrm>
          <a:prstGeom prst="ellipse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5" name="Text 23"/>
          <p:cNvSpPr/>
          <p:nvPr/>
        </p:nvSpPr>
        <p:spPr>
          <a:xfrm>
            <a:off x="502920" y="35387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097280" y="346557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合併方式不明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097280" y="3767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6282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✘ 把三份資料合在一起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754880" y="3602736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7D3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✔ 指定 inner/left/outer join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65760" y="4224528"/>
            <a:ext cx="8412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30" name="Shape 28"/>
          <p:cNvSpPr/>
          <p:nvPr/>
        </p:nvSpPr>
        <p:spPr>
          <a:xfrm>
            <a:off x="502920" y="4343400"/>
            <a:ext cx="411480" cy="411480"/>
          </a:xfrm>
          <a:prstGeom prst="ellipse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1" name="Text 29"/>
          <p:cNvSpPr/>
          <p:nvPr/>
        </p:nvSpPr>
        <p:spPr>
          <a:xfrm>
            <a:off x="502920" y="43434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1097280" y="42702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沒有驗證步驟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097280" y="4572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6282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✘ (結尾無驗證要求)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754880" y="440740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7D3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✔ 要求顯示結果以立即確認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011680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延伸應用 與 練習建議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D6E4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同一套 Prompt 技巧，可以應用在更多 HR 場景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377440"/>
            <a:ext cx="393192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640080" y="24688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薪資調整審核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28346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比對薪資表與人事異動單，檢查調薪是否合規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54880" y="2377440"/>
            <a:ext cx="393192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9" name="Text 7"/>
          <p:cNvSpPr/>
          <p:nvPr/>
        </p:nvSpPr>
        <p:spPr>
          <a:xfrm>
            <a:off x="4937760" y="24688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勞健保加退保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937760" y="28346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比對加保名單與在職名單，找出漏保員工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611880"/>
            <a:ext cx="393192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640080" y="37033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考績結算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0080" y="4069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彙整各部門考績分數，產出排名與獎金計算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54880" y="3611880"/>
            <a:ext cx="393192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5" name="Text 13"/>
          <p:cNvSpPr/>
          <p:nvPr/>
        </p:nvSpPr>
        <p:spPr>
          <a:xfrm>
            <a:off x="4937760" y="37033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教育訓練統計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937760" y="4069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整合訓練記錄，產出部門完訓率報表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666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 / 20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</TotalTime>
  <Words>1267</Words>
  <Application>Microsoft Office PowerPoint</Application>
  <PresentationFormat>如螢幕大小 (16:9)</PresentationFormat>
  <Paragraphs>363</Paragraphs>
  <Slides>20</Slides>
  <Notes>20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20</vt:i4>
      </vt:variant>
    </vt:vector>
  </HeadingPairs>
  <TitlesOfParts>
    <vt:vector size="24" baseType="lpstr">
      <vt:lpstr>Microsoft JhengHei</vt:lpstr>
      <vt:lpstr>Arial</vt:lpstr>
      <vt:lpstr>Consolas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用 AI 完成 HR 資料處理</dc:title>
  <dc:subject>PptxGenJS Presentation</dc:subject>
  <dc:creator>Excel AI Tutorial</dc:creator>
  <cp:lastModifiedBy>李效寬</cp:lastModifiedBy>
  <cp:revision>3</cp:revision>
  <dcterms:created xsi:type="dcterms:W3CDTF">2026-03-12T10:06:51Z</dcterms:created>
  <dcterms:modified xsi:type="dcterms:W3CDTF">2026-03-13T04:49:51Z</dcterms:modified>
</cp:coreProperties>
</file>